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T Sans Narrow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822edb4d0_0_3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822edb4d0_0_3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22edb4d0_0_3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822edb4d0_0_3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822edb4d0_0_3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822edb4d0_0_3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22edb4d0_0_3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822edb4d0_0_3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95c3609b5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95c3609b5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5c3609b5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95c3609b5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5c3609b5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95c3609b5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5c3609b5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95c3609b5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5c3609b5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95c3609b5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95c3609b5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95c3609b5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95c3609b5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95c3609b5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95c3609b5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95c3609b5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95c3609b5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95c3609b5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d95c3609b5_13_0)">
  <p:cSld name="Título e corpo (g3d95c3609b5_13_0)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5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5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56">
                <a:latin typeface="Times New Roman"/>
                <a:ea typeface="Times New Roman"/>
                <a:cs typeface="Times New Roman"/>
                <a:sym typeface="Times New Roman"/>
              </a:rPr>
              <a:t>Rede Bayesiana para Classificação de Score de Crédito</a:t>
            </a:r>
            <a:endParaRPr sz="385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Times New Roman"/>
                <a:ea typeface="Times New Roman"/>
                <a:cs typeface="Times New Roman"/>
                <a:sym typeface="Times New Roman"/>
              </a:rPr>
              <a:t>Trabalho Prático 01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Aprendizagem de Máquina e 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Modelagem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 de Conhecimento Incerto (9924/31)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96300" y="4219650"/>
            <a:ext cx="26334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Gabriel Saraiva, R.A. 129145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Olga Maria,        R.A. 130002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Yasser Farid,      R.A. 129706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294300" y="3357250"/>
            <a:ext cx="26334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Wagner Igarashi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cheiro:UEM png.png – Wikipédia, a enciclopédia livre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25" y="237724"/>
            <a:ext cx="1004151" cy="48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0" y="5045697"/>
            <a:ext cx="9144000" cy="978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Contextualização do Problema</a:t>
            </a:r>
            <a:endParaRPr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Fundamentos do Crédito:</a:t>
            </a:r>
            <a:b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crédito é um dos pilares fundamentais do sistema financeiro moderno, onde a avaliação correta do risco impacta diretamente instituições e consumidores.</a:t>
            </a:r>
            <a:endParaRPr sz="13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 da Modelagem:</a:t>
            </a:r>
            <a:b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problema modelado consiste em classificar o </a:t>
            </a:r>
            <a:r>
              <a:rPr b="1"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de Crédito</a:t>
            </a: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um cliente em três categorias — </a:t>
            </a:r>
            <a:r>
              <a:rPr b="1" lang="pt-BR" sz="1300">
                <a:solidFill>
                  <a:srgbClr val="2E7D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</a:t>
            </a: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(bom), </a:t>
            </a:r>
            <a:r>
              <a:rPr b="1" lang="pt-BR" sz="1300">
                <a:solidFill>
                  <a:srgbClr val="F9A8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</a:t>
            </a: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(regular) e </a:t>
            </a:r>
            <a:r>
              <a:rPr b="1" lang="pt-BR" sz="1300">
                <a:solidFill>
                  <a:srgbClr val="C6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</a:t>
            </a: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(ruim).</a:t>
            </a:r>
            <a:endParaRPr sz="13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Metodologia:</a:t>
            </a:r>
            <a:b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Utilização de variáveis financeiras e comportamentais coletadas ao longo de múltiplos meses para superar a natureza "caixa-preta" de algoritmos complexos.</a:t>
            </a:r>
            <a:endParaRPr sz="13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Necessidade de Transparência:</a:t>
            </a:r>
            <a:b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3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Demanda por modelos explicáveis que permitam incorporar conhecimento de domínio nas decisões bancárias críticas.</a:t>
            </a:r>
            <a:endParaRPr sz="13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406950" y="1047750"/>
            <a:ext cx="24507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 b="10" l="0" r="0" t="20"/>
          <a:stretch/>
        </p:blipFill>
        <p:spPr>
          <a:xfrm>
            <a:off x="8096250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Problema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Times New Roman"/>
              <a:buChar char="●"/>
            </a:pPr>
            <a:r>
              <a:rPr b="1" lang="pt-BR" sz="14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Classificação do Score de Crédito: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Categorizar clientes em três níveis finais: </a:t>
            </a:r>
            <a:r>
              <a:rPr b="1" lang="pt-BR" sz="1400">
                <a:solidFill>
                  <a:srgbClr val="2E7D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(18,3%), </a:t>
            </a:r>
            <a:r>
              <a:rPr b="1" lang="pt-BR" sz="1400">
                <a:solidFill>
                  <a:srgbClr val="F9A8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(53,4%) e </a:t>
            </a:r>
            <a:r>
              <a:rPr b="1" lang="pt-BR" sz="1400">
                <a:solidFill>
                  <a:srgbClr val="C6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(28,2%).</a:t>
            </a:r>
            <a:endParaRPr b="0" sz="14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125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Times New Roman"/>
              <a:buChar char="●"/>
            </a:pPr>
            <a:r>
              <a:rPr b="1" lang="pt-BR" sz="14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Integração de Variáveis: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combinar de forma coerente variáveis financeiras (renda, dívidas) e comportamentais (atrasos, mix de crédito).</a:t>
            </a:r>
            <a:endParaRPr b="0" sz="14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125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Times New Roman"/>
              <a:buChar char="●"/>
            </a:pPr>
            <a:r>
              <a:rPr b="1" lang="pt-BR" sz="14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Dinâmica Temporal e Interação: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Avaliar de que forma esses múltiplos fatores interagem ao longo do tempo, considerando o modelo de Rede Bayesiana já estabelecido.</a:t>
            </a:r>
            <a:endParaRPr b="0" sz="14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8096250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Fundamentação I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282995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são Redes Bayesianas?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125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Definição técnica: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São Grafos Acíclicos Dirigidos (DAGs) onde os "Nós" representam variáveis aleatórias e as "Arestas" indicam dependências causais ou probabilísticas diretas.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125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Vantagem: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Permitem estruturar de maneira transparente o conhecimento do domínio.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" name="Google Shape;99;p17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30" l="20" r="10" t="0"/>
          <a:stretch/>
        </p:blipFill>
        <p:spPr>
          <a:xfrm>
            <a:off x="8096250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1170" y="2791895"/>
            <a:ext cx="2178050" cy="19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Fundamentação II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Baseado no Teorema de Bayes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atualização de crenças diante de novas evidências.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125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Inferência Probabilística: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permite questionar o modelo. Exemplo: "Dado que o cliente atrasou, qual a probabilidade do seu score cair?".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125"/>
              </a:spcBef>
              <a:spcAft>
                <a:spcPts val="1125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Uso de Tabelas de Probabilidade Condicional (CPDs)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cada nó.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8096250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Metodologia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utilizado: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Score Classification extraído do Kaggle.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125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Dimensão: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Originalmente com 100.000 registros e 28 colunas.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125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Ferramental: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Linguagem Python utilizando a biblioteca pgmpy.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125"/>
              </a:spcBef>
              <a:spcAft>
                <a:spcPts val="1125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Abordagem: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Construção manual da rede, baseada em conhecimento de negócios, em vez de algoritmos automáticos de estruturação.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 b="30" l="0" r="30" t="0"/>
          <a:stretch/>
        </p:blipFill>
        <p:spPr>
          <a:xfrm>
            <a:off x="8096098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Estrutura da Rede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266320"/>
            <a:ext cx="42864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Times New Roman"/>
              <a:buChar char="●"/>
            </a:pPr>
            <a:r>
              <a:rPr b="1" lang="pt-BR" sz="14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Composta por 10 nós e 12 arestas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divididas em 3 camadas.</a:t>
            </a:r>
            <a:endParaRPr b="0" sz="14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Times New Roman"/>
              <a:buChar char="●"/>
            </a:pPr>
            <a:r>
              <a:rPr b="1" lang="pt-BR" sz="14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Camada de Entrada (6 nós exógenos):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Idade, Renda, Nº de Contas, Nº Cartões, Juros, Nº Empréstimos.</a:t>
            </a:r>
            <a:endParaRPr b="0" sz="14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Times New Roman"/>
              <a:buChar char="●"/>
            </a:pPr>
            <a:r>
              <a:rPr b="1" lang="pt-BR" sz="14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Camada Intermediária (3 nós):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Atraso de pagamento, Dívida Pendente e Mix de Crédito.</a:t>
            </a:r>
            <a:endParaRPr b="0" sz="14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Times New Roman"/>
              <a:buChar char="●"/>
            </a:pPr>
            <a:r>
              <a:rPr b="1" lang="pt-BR" sz="14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Camada de Saída (Nó Alvo):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Credit_Score</a:t>
            </a:r>
            <a:r>
              <a:rPr b="0" lang="pt-BR" sz="14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sz="14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4" name="Google Shape;124;p20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098" y="238125"/>
            <a:ext cx="762300" cy="3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title="baysean netwo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075" y="1014401"/>
            <a:ext cx="4530376" cy="32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 de Modelagem I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95250" lvl="0" marL="238125" marR="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Definir conexões que reflitam a realidade financeira, e não apenas correlações espúrias.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5250" lvl="0" marL="238125" marR="0" rtl="0" algn="l">
              <a:spcBef>
                <a:spcPts val="15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Exemplos modelados: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marR="0" rtl="0" algn="l">
              <a:spcBef>
                <a:spcPts val="750"/>
              </a:spcBef>
              <a:spcAft>
                <a:spcPts val="0"/>
              </a:spcAft>
              <a:buSzPts val="1400"/>
              <a:buChar char="■"/>
            </a:pP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 renda maior reduz a dívida pendente (Income → Outstanding_Debt).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marR="0" rtl="0" algn="l">
              <a:spcBef>
                <a:spcPts val="600"/>
              </a:spcBef>
              <a:spcAft>
                <a:spcPts val="750"/>
              </a:spcAft>
              <a:buSzPts val="1400"/>
              <a:buChar char="■"/>
            </a:pP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número de empréstimos aumenta a probabilidade de atrasos (Num_of_Loan → Delay_from_due_date).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" name="Google Shape;133;p21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 b="10" l="0" r="0" t="20"/>
          <a:stretch/>
        </p:blipFill>
        <p:spPr>
          <a:xfrm>
            <a:off x="8096098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 de Modelagem II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Tratamento e garantia da qualidade de dados na base original.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Lidar com variáveis sujas no Kaggle e tratamento intensivo de strings (remoção de underlines em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Credit_Mix</a:t>
            </a: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formatação de colunas numéricas).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Assegurar amostragem suficiente nas categorias discretizadas para a precisão das Tabelas de Probabilidade Condicional calculadas por Máxima Verossimilhança.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" name="Google Shape;141;p22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2" name="Google Shape;142;p22"/>
          <p:cNvPicPr preferRelativeResize="0"/>
          <p:nvPr/>
        </p:nvPicPr>
        <p:blipFill rotWithShape="1">
          <a:blip r:embed="rId3">
            <a:alphaModFix/>
          </a:blip>
          <a:srcRect b="30" l="20" r="10" t="0"/>
          <a:stretch/>
        </p:blipFill>
        <p:spPr>
          <a:xfrm>
            <a:off x="8096098" y="238051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 I - Impacto do Histórico</a:t>
            </a:r>
            <a:endParaRPr b="1" sz="360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algoritmo de </a:t>
            </a:r>
            <a:r>
              <a:rPr b="1" i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VariableElimination</a:t>
            </a: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capturou impactos fortes de bons comportamentos.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Cenário Positivo: </a:t>
            </a:r>
            <a:r>
              <a:rPr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aplicarmos evidências de "Mix de Crédito = Good" e "Dívida Pendente = Baixa".</a:t>
            </a:r>
            <a:endParaRPr sz="15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probabilidade do Score ser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salta para 44,66% (bem acima da média natural do dataset que é de 18,3%).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9" name="Google Shape;149;p23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 b="30" l="20" r="10" t="0"/>
          <a:stretch/>
        </p:blipFill>
        <p:spPr>
          <a:xfrm>
            <a:off x="8096098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3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 II - Perfil de Risco (Simulações)</a:t>
            </a:r>
            <a:endParaRPr b="1" sz="333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Simulação de Perfil de Alto Risco (Jovem, Renda Baixa, Vários Empréstimos, Atraso Grave):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probabilidade de obter score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é de 41,16% e de apenas 17,06% para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Simulação de Baixo Risco (Adulto, Renda Alta, Poucos Empréstimos, Sem atraso):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probabilidade de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cai drasticamente para 14,82%, enquanto a chance de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sobe para 27,30%.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7" name="Google Shape;157;p24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30" l="0" r="30" t="0"/>
          <a:stretch/>
        </p:blipFill>
        <p:spPr>
          <a:xfrm>
            <a:off x="8096098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3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 III - Validação do Modelo</a:t>
            </a:r>
            <a:endParaRPr b="1" sz="333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Análise de Independências Locais (critério de </a:t>
            </a:r>
            <a:r>
              <a:rPr b="1" i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d-separação</a:t>
            </a: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validaram a estrutura.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idade (</a:t>
            </a:r>
            <a:r>
              <a:rPr b="1" i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</a:t>
            </a: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atua de forma independente das variáveis operacionais de entrada.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b="1" i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Credit_Score</a:t>
            </a: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torna-se condicionalmente independente da "Taxa de Juros" ou do "Número de Empréstimos" dado que já sabemos o comportamento dos seus pais diretos na rede (como a Dívida Acumulada e os Atrasos).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5" name="Google Shape;165;p25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098" y="238125"/>
            <a:ext cx="7623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3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Conclusão</a:t>
            </a:r>
            <a:endParaRPr b="1" sz="333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266320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9525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Rede Bayesiana modelada capturou dependências e dinâmicas coerentes de finanças.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5250" lvl="0" marL="190500" marR="0" rtl="0" algn="l">
              <a:spcBef>
                <a:spcPts val="20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Altamente interpretável: 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contrário de "caixas-pretas", o modelo fornece explicações causais diretas do "porquê" a probabilidade de um score caiu.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5250" lvl="0" marL="190500" marR="0" rtl="0" algn="l">
              <a:spcBef>
                <a:spcPts val="20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1" lang="pt-BR" sz="1500">
                <a:solidFill>
                  <a:srgbClr val="4DB6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Endividamento e atrasos foram os fatores de maior degradação do perfil.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3" name="Google Shape;173;p26"/>
          <p:cNvCxnSpPr/>
          <p:nvPr/>
        </p:nvCxnSpPr>
        <p:spPr>
          <a:xfrm rot="10800000">
            <a:off x="1632299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8096098" y="238125"/>
            <a:ext cx="762300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658" y="445008"/>
            <a:ext cx="8520600" cy="70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30">
                <a:solidFill>
                  <a:srgbClr val="EF6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Referências Bibliográficas</a:t>
            </a:r>
            <a:endParaRPr b="1" sz="3330">
              <a:solidFill>
                <a:srgbClr val="EF6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658" y="1266254"/>
            <a:ext cx="8520600" cy="330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KOLLER, D.; FRIEDMAN, N.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Graphical Models: Principles and Techniques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MIT Press, 2009.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PEARL, J.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Reasoning in Intelligent Systems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Morgan Kaufmann, 1988.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PGMPY DEVELOPERS.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pgmpy: Python Library for Probabilistic Graphical Models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ROHAN, P.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Score Classification Dataset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Kaggle, 2022.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4DB6AC"/>
              </a:buClr>
              <a:buSzPts val="1500"/>
              <a:buFont typeface="Times New Roman"/>
              <a:buChar char="●"/>
            </a:pP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RUSSELL, S.; NORVIG, P. </a:t>
            </a:r>
            <a:r>
              <a:rPr b="0" i="1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Intelligence: A Modern Approach</a:t>
            </a:r>
            <a:r>
              <a:rPr b="0" lang="pt-BR" sz="15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Pearson, 2020.</a:t>
            </a:r>
            <a:endParaRPr b="1" sz="1500">
              <a:solidFill>
                <a:srgbClr val="4DB6A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3">
            <a:alphaModFix/>
          </a:blip>
          <a:srcRect b="10" l="0" r="0" t="20"/>
          <a:stretch/>
        </p:blipFill>
        <p:spPr>
          <a:xfrm>
            <a:off x="8096250" y="238125"/>
            <a:ext cx="762000" cy="36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27"/>
          <p:cNvCxnSpPr/>
          <p:nvPr/>
        </p:nvCxnSpPr>
        <p:spPr>
          <a:xfrm rot="10800000">
            <a:off x="1632353" y="-177600"/>
            <a:ext cx="0" cy="24507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B3A77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